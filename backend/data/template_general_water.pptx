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0" y="4572000"/>
            <a:ext cx="1371600" cy="1371600"/>
          </a:xfrm>
          <a:prstGeom prst="ellipse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86000" y="4572000"/>
            <a:ext cx="1371600" cy="1371600"/>
          </a:xfrm>
          <a:prstGeom prst="ellipse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0" y="4572000"/>
            <a:ext cx="1371600" cy="1371600"/>
          </a:xfrm>
          <a:prstGeom prst="ellipse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0" y="4572000"/>
            <a:ext cx="1371600" cy="1371600"/>
          </a:xfrm>
          <a:prstGeom prst="ellipse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0" y="4572000"/>
            <a:ext cx="1371600" cy="1371600"/>
          </a:xfrm>
          <a:prstGeom prst="ellipse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30000" y="4572000"/>
            <a:ext cx="1371600" cy="1371600"/>
          </a:xfrm>
          <a:prstGeom prst="ellipse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731520"/>
            <a:ext cx="109728" cy="411480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0" y="457200"/>
            <a:ext cx="2286000" cy="2286000"/>
          </a:xfrm>
          <a:prstGeom prst="ellipse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1097280"/>
            <a:ext cx="1645920" cy="1645920"/>
          </a:xfrm>
          <a:prstGeom prst="ellipse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75520" y="1828800"/>
            <a:ext cx="731520" cy="731520"/>
          </a:xfrm>
          <a:prstGeom prst="ellipse">
            <a:avLst/>
          </a:prstGeom>
          <a:solidFill>
            <a:srgbClr val="23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914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200"/>
              </a:lnSpc>
              <a:defRPr sz="4400" b="1" i="0">
                <a:solidFill>
                  <a:srgbClr val="FFFFFF"/>
                </a:solidFill>
                <a:latin typeface="微软雅黑"/>
              </a:defRPr>
            </a:pPr>
            <a:r>
              <a:t>{{ course_name 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86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defRPr sz="2800" b="1" i="0">
                <a:solidFill>
                  <a:srgbClr val="46648C"/>
                </a:solidFill>
                <a:latin typeface="微软雅黑"/>
              </a:defRPr>
            </a:pPr>
            <a:r>
              <a:t>水利课程通用教学课件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0" i="0">
                <a:solidFill>
                  <a:srgbClr val="C8DCF0"/>
                </a:solidFill>
                <a:latin typeface="微软雅黑"/>
              </a:defRPr>
            </a:pPr>
            <a:r>
              <a:t>通用水利教学 · 课程教学专用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669280"/>
            <a:ext cx="12191695" cy="54864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0" i="0">
                <a:solidFill>
                  <a:srgbClr val="B4C8DC"/>
                </a:solidFill>
                <a:latin typeface="微软雅黑"/>
              </a:defRPr>
            </a:pPr>
            <a:r>
              <a:t>模板：{{ template_name }}   ｜   课程类型：{{ 课程类型 }}   ｜   授课对象：{{ 授课对象 }}   ｜   总课时：{{ 总课时 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0" i="0">
                <a:solidFill>
                  <a:srgbClr val="8CA5BE"/>
                </a:solidFill>
                <a:latin typeface="微软雅黑"/>
              </a:defRPr>
            </a:pPr>
            <a:r>
              <a:t>生成时间：{{ 生成时间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23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731520"/>
            <a:ext cx="4572000" cy="91440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FFFFFF"/>
                </a:solidFill>
                <a:latin typeface="微软雅黑"/>
              </a:defRPr>
            </a:pPr>
            <a:r>
              <a:t>📋 教学目标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743200" cy="36576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10698480" cy="411480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91440" cy="411480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774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defRPr sz="1800" b="0" i="0">
                <a:solidFill>
                  <a:srgbClr val="323C50"/>
                </a:solidFill>
                <a:latin typeface="微软雅黑"/>
              </a:defRPr>
            </a:pPr>
            <a:r>
              <a:t>{{ 教学目标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23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731520"/>
            <a:ext cx="4572000" cy="91440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FFFFFF"/>
                </a:solidFill>
                <a:latin typeface="微软雅黑"/>
              </a:defRPr>
            </a:pPr>
            <a:r>
              <a:t>🎯 教学重难点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743200" cy="36576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5120640" cy="4114800"/>
          </a:xfrm>
          <a:prstGeom prst="roundRect">
            <a:avLst/>
          </a:prstGeom>
          <a:solidFill>
            <a:srgbClr val="E6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5120640" cy="64008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488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1" i="0">
                <a:solidFill>
                  <a:srgbClr val="FFFFFF"/>
                </a:solidFill>
                <a:latin typeface="微软雅黑"/>
              </a:defRPr>
            </a:pPr>
            <a:r>
              <a:t>⭐ 教学重点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1600" b="0" i="0">
                <a:solidFill>
                  <a:srgbClr val="283C5A"/>
                </a:solidFill>
                <a:latin typeface="微软雅黑"/>
              </a:defRPr>
            </a:pPr>
            <a:r>
              <a:t>{{ 教学重点 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03120"/>
            <a:ext cx="5303520" cy="4114800"/>
          </a:xfrm>
          <a:prstGeom prst="roundRect">
            <a:avLst/>
          </a:prstGeom>
          <a:solidFill>
            <a:srgbClr val="FF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2103120"/>
            <a:ext cx="5303520" cy="640080"/>
          </a:xfrm>
          <a:prstGeom prst="rect">
            <a:avLst/>
          </a:prstGeom>
          <a:solidFill>
            <a:srgbClr val="C87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1" i="0">
                <a:solidFill>
                  <a:srgbClr val="FFFFFF"/>
                </a:solidFill>
                <a:latin typeface="微软雅黑"/>
              </a:defRPr>
            </a:pPr>
            <a:r>
              <a:t>⚠️ 教学难点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1600" b="0" i="0">
                <a:solidFill>
                  <a:srgbClr val="503214"/>
                </a:solidFill>
                <a:latin typeface="微软雅黑"/>
              </a:defRPr>
            </a:pPr>
            <a:r>
              <a:t>{{ 教学难点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23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548640"/>
            <a:ext cx="914400" cy="914400"/>
          </a:xfrm>
          <a:prstGeom prst="ellipse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  <a:defRPr sz="3600" b="1" i="0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640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233246"/>
                </a:solidFill>
                <a:latin typeface="微软雅黑"/>
              </a:defRPr>
            </a:pPr>
            <a:r>
              <a:t>{{ 环节1标题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0" y="731520"/>
            <a:ext cx="2286000" cy="548640"/>
          </a:xfrm>
          <a:prstGeom prst="roundRect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74980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1" i="0">
                <a:solidFill>
                  <a:srgbClr val="233246"/>
                </a:solidFill>
                <a:latin typeface="微软雅黑"/>
              </a:defRPr>
            </a:pPr>
            <a:r>
              <a:t>⏱ { 环节1时长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463040"/>
            <a:ext cx="3657600" cy="36576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828800"/>
            <a:ext cx="10698480" cy="201168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91440" cy="201168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20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0" i="0">
                <a:solidFill>
                  <a:srgbClr val="1A3C5E"/>
                </a:solidFill>
                <a:latin typeface="微软雅黑"/>
              </a:defRPr>
            </a:pPr>
            <a:r>
              <a:t>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46648C"/>
                </a:solidFill>
                <a:latin typeface="微软雅黑"/>
              </a:defRPr>
            </a:pPr>
            <a:r>
              <a:t>教学内容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7744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defRPr sz="1600" b="0" i="0">
                <a:solidFill>
                  <a:srgbClr val="323C50"/>
                </a:solidFill>
                <a:latin typeface="微软雅黑"/>
              </a:defRPr>
            </a:pPr>
            <a:r>
              <a:t>{{ 环节1内容 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5029200" cy="1645920"/>
          </a:xfrm>
          <a:prstGeom prst="roundRect">
            <a:avLst/>
          </a:prstGeom>
          <a:solidFill>
            <a:srgbClr val="F0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114800"/>
            <a:ext cx="91440" cy="1645920"/>
          </a:xfrm>
          <a:prstGeom prst="rect">
            <a:avLst/>
          </a:prstGeom>
          <a:solidFill>
            <a:srgbClr val="3C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28783C"/>
                </a:solidFill>
                <a:latin typeface="微软雅黑"/>
              </a:defRPr>
            </a:pPr>
            <a:r>
              <a:t>教学方法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32463C"/>
                </a:solidFill>
                <a:latin typeface="微软雅黑"/>
              </a:defRPr>
            </a:pPr>
            <a:r>
              <a:t>{{ 环节1方法 }}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4114800"/>
            <a:ext cx="5394960" cy="164592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4114800"/>
            <a:ext cx="91440" cy="1645920"/>
          </a:xfrm>
          <a:prstGeom prst="rect">
            <a:avLst/>
          </a:prstGeom>
          <a:solidFill>
            <a:srgbClr val="C8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206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A06414"/>
                </a:solidFill>
                <a:latin typeface="微软雅黑"/>
              </a:defRPr>
            </a:pPr>
            <a:r>
              <a:t>知识点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503C1E"/>
                </a:solidFill>
                <a:latin typeface="微软雅黑"/>
              </a:defRPr>
            </a:pPr>
            <a:r>
              <a:t>{{ 环节1知识点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23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548640"/>
            <a:ext cx="914400" cy="914400"/>
          </a:xfrm>
          <a:prstGeom prst="ellipse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  <a:defRPr sz="3600" b="1" i="0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640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233246"/>
                </a:solidFill>
                <a:latin typeface="微软雅黑"/>
              </a:defRPr>
            </a:pPr>
            <a:r>
              <a:t>{{ 环节2标题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0" y="731520"/>
            <a:ext cx="2286000" cy="548640"/>
          </a:xfrm>
          <a:prstGeom prst="roundRect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74980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1" i="0">
                <a:solidFill>
                  <a:srgbClr val="233246"/>
                </a:solidFill>
                <a:latin typeface="微软雅黑"/>
              </a:defRPr>
            </a:pPr>
            <a:r>
              <a:t>⏱ { 环节2时长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463040"/>
            <a:ext cx="3657600" cy="36576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828800"/>
            <a:ext cx="10698480" cy="201168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91440" cy="201168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20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0" i="0">
                <a:solidFill>
                  <a:srgbClr val="1A3C5E"/>
                </a:solidFill>
                <a:latin typeface="微软雅黑"/>
              </a:defRPr>
            </a:pPr>
            <a:r>
              <a:t>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46648C"/>
                </a:solidFill>
                <a:latin typeface="微软雅黑"/>
              </a:defRPr>
            </a:pPr>
            <a:r>
              <a:t>教学内容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7744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defRPr sz="1600" b="0" i="0">
                <a:solidFill>
                  <a:srgbClr val="323C50"/>
                </a:solidFill>
                <a:latin typeface="微软雅黑"/>
              </a:defRPr>
            </a:pPr>
            <a:r>
              <a:t>{{ 环节2内容 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5029200" cy="1645920"/>
          </a:xfrm>
          <a:prstGeom prst="roundRect">
            <a:avLst/>
          </a:prstGeom>
          <a:solidFill>
            <a:srgbClr val="F0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114800"/>
            <a:ext cx="91440" cy="1645920"/>
          </a:xfrm>
          <a:prstGeom prst="rect">
            <a:avLst/>
          </a:prstGeom>
          <a:solidFill>
            <a:srgbClr val="3C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28783C"/>
                </a:solidFill>
                <a:latin typeface="微软雅黑"/>
              </a:defRPr>
            </a:pPr>
            <a:r>
              <a:t>教学方法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32463C"/>
                </a:solidFill>
                <a:latin typeface="微软雅黑"/>
              </a:defRPr>
            </a:pPr>
            <a:r>
              <a:t>{{ 环节2方法 }}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4114800"/>
            <a:ext cx="5394960" cy="164592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4114800"/>
            <a:ext cx="91440" cy="1645920"/>
          </a:xfrm>
          <a:prstGeom prst="rect">
            <a:avLst/>
          </a:prstGeom>
          <a:solidFill>
            <a:srgbClr val="C8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206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A06414"/>
                </a:solidFill>
                <a:latin typeface="微软雅黑"/>
              </a:defRPr>
            </a:pPr>
            <a:r>
              <a:t>知识点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503C1E"/>
                </a:solidFill>
                <a:latin typeface="微软雅黑"/>
              </a:defRPr>
            </a:pPr>
            <a:r>
              <a:t>{{ 环节2知识点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23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548640"/>
            <a:ext cx="914400" cy="914400"/>
          </a:xfrm>
          <a:prstGeom prst="ellipse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  <a:defRPr sz="3600" b="1" i="0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640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233246"/>
                </a:solidFill>
                <a:latin typeface="微软雅黑"/>
              </a:defRPr>
            </a:pPr>
            <a:r>
              <a:t>{{ 环节3标题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0" y="731520"/>
            <a:ext cx="2286000" cy="548640"/>
          </a:xfrm>
          <a:prstGeom prst="roundRect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74980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1" i="0">
                <a:solidFill>
                  <a:srgbClr val="233246"/>
                </a:solidFill>
                <a:latin typeface="微软雅黑"/>
              </a:defRPr>
            </a:pPr>
            <a:r>
              <a:t>⏱ { 环节3时长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463040"/>
            <a:ext cx="3657600" cy="36576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828800"/>
            <a:ext cx="10698480" cy="201168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828800"/>
            <a:ext cx="91440" cy="201168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20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0" i="0">
                <a:solidFill>
                  <a:srgbClr val="1A3C5E"/>
                </a:solidFill>
                <a:latin typeface="微软雅黑"/>
              </a:defRPr>
            </a:pPr>
            <a:r>
              <a:t>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46648C"/>
                </a:solidFill>
                <a:latin typeface="微软雅黑"/>
              </a:defRPr>
            </a:pPr>
            <a:r>
              <a:t>教学内容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7744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defRPr sz="1600" b="0" i="0">
                <a:solidFill>
                  <a:srgbClr val="323C50"/>
                </a:solidFill>
                <a:latin typeface="微软雅黑"/>
              </a:defRPr>
            </a:pPr>
            <a:r>
              <a:t>{{ 环节3内容 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5029200" cy="1645920"/>
          </a:xfrm>
          <a:prstGeom prst="roundRect">
            <a:avLst/>
          </a:prstGeom>
          <a:solidFill>
            <a:srgbClr val="F0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114800"/>
            <a:ext cx="91440" cy="1645920"/>
          </a:xfrm>
          <a:prstGeom prst="rect">
            <a:avLst/>
          </a:prstGeom>
          <a:solidFill>
            <a:srgbClr val="3C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28783C"/>
                </a:solidFill>
                <a:latin typeface="微软雅黑"/>
              </a:defRPr>
            </a:pPr>
            <a:r>
              <a:t>教学方法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32463C"/>
                </a:solidFill>
                <a:latin typeface="微软雅黑"/>
              </a:defRPr>
            </a:pPr>
            <a:r>
              <a:t>{{ 环节3方法 }}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4114800"/>
            <a:ext cx="5394960" cy="164592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4114800"/>
            <a:ext cx="91440" cy="1645920"/>
          </a:xfrm>
          <a:prstGeom prst="rect">
            <a:avLst/>
          </a:prstGeom>
          <a:solidFill>
            <a:srgbClr val="C8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 i="0">
                <a:solidFill>
                  <a:srgbClr val="1A3C5E"/>
                </a:solidFill>
                <a:latin typeface="微软雅黑"/>
              </a:defRPr>
            </a:pPr>
            <a:r>
              <a:t>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206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 i="0">
                <a:solidFill>
                  <a:srgbClr val="A06414"/>
                </a:solidFill>
                <a:latin typeface="微软雅黑"/>
              </a:defRPr>
            </a:pPr>
            <a:r>
              <a:t>知识点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6634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 i="0">
                <a:solidFill>
                  <a:srgbClr val="503C1E"/>
                </a:solidFill>
                <a:latin typeface="微软雅黑"/>
              </a:defRPr>
            </a:pPr>
            <a:r>
              <a:t>{{ 环节3知识点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23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731520"/>
            <a:ext cx="4572000" cy="91440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FFFFFF"/>
                </a:solidFill>
                <a:latin typeface="微软雅黑"/>
              </a:defRPr>
            </a:pPr>
            <a:r>
              <a:t>📚 案例与资源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743200" cy="36576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10698480" cy="411480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91440" cy="411480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774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defRPr sz="1800" b="0" i="0">
                <a:solidFill>
                  <a:srgbClr val="323C50"/>
                </a:solidFill>
                <a:latin typeface="微软雅黑"/>
              </a:defRPr>
            </a:pPr>
            <a:r>
              <a:t>{{ 教学案例 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23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731520"/>
            <a:ext cx="4572000" cy="91440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3000" b="1" i="0">
                <a:solidFill>
                  <a:srgbClr val="FFFFFF"/>
                </a:solidFill>
                <a:latin typeface="微软雅黑"/>
              </a:defRPr>
            </a:pPr>
            <a:r>
              <a:t>✏️ 课堂练习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743200" cy="36576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10698480" cy="4114800"/>
          </a:xfrm>
          <a:prstGeom prst="round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91440" cy="4114800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774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defRPr sz="1800" b="0" i="0">
                <a:solidFill>
                  <a:srgbClr val="323C50"/>
                </a:solidFill>
                <a:latin typeface="微软雅黑"/>
              </a:defRPr>
            </a:pPr>
            <a:r>
              <a:t>{{ 课堂练习 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572000"/>
            <a:ext cx="3657600" cy="3657600"/>
          </a:xfrm>
          <a:prstGeom prst="ellipse">
            <a:avLst/>
          </a:prstGeom>
          <a:solidFill>
            <a:srgbClr val="50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-457200"/>
            <a:ext cx="2286000" cy="2286000"/>
          </a:xfrm>
          <a:prstGeom prst="ellipse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 i="0">
                <a:solidFill>
                  <a:srgbClr val="FFFFFF"/>
                </a:solidFill>
                <a:latin typeface="微软雅黑"/>
              </a:defRPr>
            </a:pPr>
            <a:r>
              <a:t>📝 总结与作业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645920"/>
            <a:ext cx="2743200" cy="54864"/>
          </a:xfrm>
          <a:prstGeom prst="rect">
            <a:avLst/>
          </a:prstGeom>
          <a:solidFill>
            <a:srgbClr val="46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2011680"/>
          </a:xfrm>
          <a:prstGeom prst="roundRect">
            <a:avLst/>
          </a:prstGeom>
          <a:solidFill>
            <a:srgbClr val="1E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 i="0">
                <a:solidFill>
                  <a:srgbClr val="46648C"/>
                </a:solidFill>
                <a:latin typeface="微软雅黑"/>
              </a:defRPr>
            </a:pPr>
            <a:r>
              <a:t>📋 教学总结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defRPr sz="1600" b="0" i="0">
                <a:solidFill>
                  <a:srgbClr val="C8DCF0"/>
                </a:solidFill>
                <a:latin typeface="微软雅黑"/>
              </a:defRPr>
            </a:pPr>
            <a:r>
              <a:t>{{ 教学总结 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89120"/>
            <a:ext cx="10698480" cy="1828800"/>
          </a:xfrm>
          <a:prstGeom prst="roundRect">
            <a:avLst/>
          </a:prstGeom>
          <a:solidFill>
            <a:srgbClr val="1E3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 i="0">
                <a:solidFill>
                  <a:srgbClr val="46648C"/>
                </a:solidFill>
                <a:latin typeface="微软雅黑"/>
              </a:defRPr>
            </a:pPr>
            <a:r>
              <a:t>📝 课后任务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defRPr sz="1600" b="0" i="0">
                <a:solidFill>
                  <a:srgbClr val="C8DCF0"/>
                </a:solidFill>
                <a:latin typeface="微软雅黑"/>
              </a:defRPr>
            </a:pPr>
            <a:r>
              <a:t>{{ 课后任务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