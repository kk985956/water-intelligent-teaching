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4572000"/>
            <a:ext cx="1371600" cy="1371600"/>
          </a:xfrm>
          <a:prstGeom prst="ellipse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4572000"/>
            <a:ext cx="1371600" cy="1371600"/>
          </a:xfrm>
          <a:prstGeom prst="ellipse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0" y="4572000"/>
            <a:ext cx="1371600" cy="1371600"/>
          </a:xfrm>
          <a:prstGeom prst="ellipse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4572000"/>
            <a:ext cx="1371600" cy="1371600"/>
          </a:xfrm>
          <a:prstGeom prst="ellipse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4572000"/>
            <a:ext cx="1371600" cy="1371600"/>
          </a:xfrm>
          <a:prstGeom prst="ellipse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4572000"/>
            <a:ext cx="1371600" cy="1371600"/>
          </a:xfrm>
          <a:prstGeom prst="ellipse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" cy="4114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1097280"/>
            <a:ext cx="1645920" cy="1645920"/>
          </a:xfrm>
          <a:prstGeom prst="ellipse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0" y="1828800"/>
            <a:ext cx="731520" cy="731520"/>
          </a:xfrm>
          <a:prstGeom prst="ellipse">
            <a:avLst/>
          </a:prstGeom>
          <a:solidFill>
            <a:srgbClr val="14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defRPr sz="4400" b="1" i="0">
                <a:solidFill>
                  <a:srgbClr val="FFFFFF"/>
                </a:solidFill>
                <a:latin typeface="微软雅黑"/>
              </a:defRPr>
            </a:pPr>
            <a:r>
              <a:t>{{ course_name 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 i="0">
                <a:solidFill>
                  <a:srgbClr val="2E7D32"/>
                </a:solidFill>
                <a:latin typeface="微软雅黑"/>
              </a:defRPr>
            </a:pPr>
            <a:r>
              <a:t>水资源管理教学课件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 i="0">
                <a:solidFill>
                  <a:srgbClr val="C8DCF0"/>
                </a:solidFill>
                <a:latin typeface="微软雅黑"/>
              </a:defRPr>
            </a:pPr>
            <a:r>
              <a:t>水资源管理 · 课程教学专用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66928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 i="0">
                <a:solidFill>
                  <a:srgbClr val="B4C8DC"/>
                </a:solidFill>
                <a:latin typeface="微软雅黑"/>
              </a:defRPr>
            </a:pPr>
            <a:r>
              <a:t>模板：{{ template_name }}   ｜   课程类型：{{ 课程类型 }}   ｜   授课对象：{{ 授课对象 }}   ｜   总课时：{{ 总课时 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 i="0">
                <a:solidFill>
                  <a:srgbClr val="8CA5BE"/>
                </a:solidFill>
                <a:latin typeface="微软雅黑"/>
              </a:defRPr>
            </a:pPr>
            <a:r>
              <a:t>生成时间：{{ 生成时间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4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731520"/>
            <a:ext cx="457200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FFFFFF"/>
                </a:solidFill>
                <a:latin typeface="微软雅黑"/>
              </a:defRPr>
            </a:pPr>
            <a:r>
              <a:t>📋 教学目标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698480" cy="41148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91440" cy="4114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1800" b="0" i="0">
                <a:solidFill>
                  <a:srgbClr val="323C50"/>
                </a:solidFill>
                <a:latin typeface="微软雅黑"/>
              </a:defRPr>
            </a:pPr>
            <a:r>
              <a:t>{{ 教学目标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4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731520"/>
            <a:ext cx="457200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FFFFFF"/>
                </a:solidFill>
                <a:latin typeface="微软雅黑"/>
              </a:defRPr>
            </a:pPr>
            <a:r>
              <a:t>🎯 教学重难点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E6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12064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 i="0">
                <a:solidFill>
                  <a:srgbClr val="FFFFFF"/>
                </a:solidFill>
                <a:latin typeface="微软雅黑"/>
              </a:defRPr>
            </a:pPr>
            <a:r>
              <a:t>⭐ 教学重点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600" b="0" i="0">
                <a:solidFill>
                  <a:srgbClr val="283C5A"/>
                </a:solidFill>
                <a:latin typeface="微软雅黑"/>
              </a:defRPr>
            </a:pPr>
            <a:r>
              <a:t>{{ 教学重点 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03120"/>
            <a:ext cx="5303520" cy="4114800"/>
          </a:xfrm>
          <a:prstGeom prst="round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103120"/>
            <a:ext cx="5303520" cy="640080"/>
          </a:xfrm>
          <a:prstGeom prst="rect">
            <a:avLst/>
          </a:prstGeom>
          <a:solidFill>
            <a:srgbClr val="C8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 i="0">
                <a:solidFill>
                  <a:srgbClr val="FFFFFF"/>
                </a:solidFill>
                <a:latin typeface="微软雅黑"/>
              </a:defRPr>
            </a:pPr>
            <a:r>
              <a:t>⚠️ 教学难点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600" b="0" i="0">
                <a:solidFill>
                  <a:srgbClr val="503214"/>
                </a:solidFill>
                <a:latin typeface="微软雅黑"/>
              </a:defRPr>
            </a:pPr>
            <a:r>
              <a:t>{{ 教学难点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4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54864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 i="0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143719"/>
                </a:solidFill>
                <a:latin typeface="微软雅黑"/>
              </a:defRPr>
            </a:pPr>
            <a:r>
              <a:t>{{ 环节1标题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731520"/>
            <a:ext cx="2286000" cy="548640"/>
          </a:xfrm>
          <a:prstGeom prst="roundRect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74980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 i="0">
                <a:solidFill>
                  <a:srgbClr val="143719"/>
                </a:solidFill>
                <a:latin typeface="微软雅黑"/>
              </a:defRPr>
            </a:pPr>
            <a:r>
              <a:t>⏱ { 环节1时长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63040"/>
            <a:ext cx="36576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828800"/>
            <a:ext cx="9144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 i="0">
                <a:solidFill>
                  <a:srgbClr val="1A3C5E"/>
                </a:solidFill>
                <a:latin typeface="微软雅黑"/>
              </a:defRPr>
            </a:pPr>
            <a: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2E7D32"/>
                </a:solidFill>
                <a:latin typeface="微软雅黑"/>
              </a:defRPr>
            </a:pPr>
            <a:r>
              <a:t>教学内容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774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323C50"/>
                </a:solidFill>
                <a:latin typeface="微软雅黑"/>
              </a:defRPr>
            </a:pPr>
            <a:r>
              <a:t>{{ 环节1内容 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029200" cy="1645920"/>
          </a:xfrm>
          <a:prstGeom prst="roundRect">
            <a:avLst/>
          </a:prstGeom>
          <a:solidFill>
            <a:srgbClr val="F0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91440" cy="1645920"/>
          </a:xfrm>
          <a:prstGeom prst="rect">
            <a:avLst/>
          </a:prstGeom>
          <a:solidFill>
            <a:srgbClr val="3C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28783C"/>
                </a:solidFill>
                <a:latin typeface="微软雅黑"/>
              </a:defRPr>
            </a:pPr>
            <a:r>
              <a:t>教学方法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32463C"/>
                </a:solidFill>
                <a:latin typeface="微软雅黑"/>
              </a:defRPr>
            </a:pPr>
            <a:r>
              <a:t>{{ 环节1方法 }}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114800"/>
            <a:ext cx="5394960" cy="16459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114800"/>
            <a:ext cx="91440" cy="1645920"/>
          </a:xfrm>
          <a:prstGeom prst="rect">
            <a:avLst/>
          </a:prstGeom>
          <a:solidFill>
            <a:srgbClr val="C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A06414"/>
                </a:solidFill>
                <a:latin typeface="微软雅黑"/>
              </a:defRPr>
            </a:pPr>
            <a:r>
              <a:t>知识点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503C1E"/>
                </a:solidFill>
                <a:latin typeface="微软雅黑"/>
              </a:defRPr>
            </a:pPr>
            <a:r>
              <a:t>{{ 环节1知识点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4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54864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 i="0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143719"/>
                </a:solidFill>
                <a:latin typeface="微软雅黑"/>
              </a:defRPr>
            </a:pPr>
            <a:r>
              <a:t>{{ 环节2标题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731520"/>
            <a:ext cx="2286000" cy="548640"/>
          </a:xfrm>
          <a:prstGeom prst="roundRect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74980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 i="0">
                <a:solidFill>
                  <a:srgbClr val="143719"/>
                </a:solidFill>
                <a:latin typeface="微软雅黑"/>
              </a:defRPr>
            </a:pPr>
            <a:r>
              <a:t>⏱ { 环节2时长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63040"/>
            <a:ext cx="36576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828800"/>
            <a:ext cx="9144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 i="0">
                <a:solidFill>
                  <a:srgbClr val="1A3C5E"/>
                </a:solidFill>
                <a:latin typeface="微软雅黑"/>
              </a:defRPr>
            </a:pPr>
            <a: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2E7D32"/>
                </a:solidFill>
                <a:latin typeface="微软雅黑"/>
              </a:defRPr>
            </a:pPr>
            <a:r>
              <a:t>教学内容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774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323C50"/>
                </a:solidFill>
                <a:latin typeface="微软雅黑"/>
              </a:defRPr>
            </a:pPr>
            <a:r>
              <a:t>{{ 环节2内容 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029200" cy="1645920"/>
          </a:xfrm>
          <a:prstGeom prst="roundRect">
            <a:avLst/>
          </a:prstGeom>
          <a:solidFill>
            <a:srgbClr val="F0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91440" cy="1645920"/>
          </a:xfrm>
          <a:prstGeom prst="rect">
            <a:avLst/>
          </a:prstGeom>
          <a:solidFill>
            <a:srgbClr val="3C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28783C"/>
                </a:solidFill>
                <a:latin typeface="微软雅黑"/>
              </a:defRPr>
            </a:pPr>
            <a:r>
              <a:t>教学方法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32463C"/>
                </a:solidFill>
                <a:latin typeface="微软雅黑"/>
              </a:defRPr>
            </a:pPr>
            <a:r>
              <a:t>{{ 环节2方法 }}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114800"/>
            <a:ext cx="5394960" cy="16459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114800"/>
            <a:ext cx="91440" cy="1645920"/>
          </a:xfrm>
          <a:prstGeom prst="rect">
            <a:avLst/>
          </a:prstGeom>
          <a:solidFill>
            <a:srgbClr val="C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A06414"/>
                </a:solidFill>
                <a:latin typeface="微软雅黑"/>
              </a:defRPr>
            </a:pPr>
            <a:r>
              <a:t>知识点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503C1E"/>
                </a:solidFill>
                <a:latin typeface="微软雅黑"/>
              </a:defRPr>
            </a:pPr>
            <a:r>
              <a:t>{{ 环节2知识点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4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54864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 i="0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143719"/>
                </a:solidFill>
                <a:latin typeface="微软雅黑"/>
              </a:defRPr>
            </a:pPr>
            <a:r>
              <a:t>{{ 环节3标题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731520"/>
            <a:ext cx="2286000" cy="548640"/>
          </a:xfrm>
          <a:prstGeom prst="roundRect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74980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 i="0">
                <a:solidFill>
                  <a:srgbClr val="143719"/>
                </a:solidFill>
                <a:latin typeface="微软雅黑"/>
              </a:defRPr>
            </a:pPr>
            <a:r>
              <a:t>⏱ { 环节3时长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63040"/>
            <a:ext cx="36576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828800"/>
            <a:ext cx="9144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 i="0">
                <a:solidFill>
                  <a:srgbClr val="1A3C5E"/>
                </a:solidFill>
                <a:latin typeface="微软雅黑"/>
              </a:defRPr>
            </a:pPr>
            <a: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2E7D32"/>
                </a:solidFill>
                <a:latin typeface="微软雅黑"/>
              </a:defRPr>
            </a:pPr>
            <a:r>
              <a:t>教学内容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774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323C50"/>
                </a:solidFill>
                <a:latin typeface="微软雅黑"/>
              </a:defRPr>
            </a:pPr>
            <a:r>
              <a:t>{{ 环节3内容 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029200" cy="1645920"/>
          </a:xfrm>
          <a:prstGeom prst="roundRect">
            <a:avLst/>
          </a:prstGeom>
          <a:solidFill>
            <a:srgbClr val="F0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91440" cy="1645920"/>
          </a:xfrm>
          <a:prstGeom prst="rect">
            <a:avLst/>
          </a:prstGeom>
          <a:solidFill>
            <a:srgbClr val="3C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28783C"/>
                </a:solidFill>
                <a:latin typeface="微软雅黑"/>
              </a:defRPr>
            </a:pPr>
            <a:r>
              <a:t>教学方法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32463C"/>
                </a:solidFill>
                <a:latin typeface="微软雅黑"/>
              </a:defRPr>
            </a:pPr>
            <a:r>
              <a:t>{{ 环节3方法 }}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114800"/>
            <a:ext cx="5394960" cy="16459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114800"/>
            <a:ext cx="91440" cy="1645920"/>
          </a:xfrm>
          <a:prstGeom prst="rect">
            <a:avLst/>
          </a:prstGeom>
          <a:solidFill>
            <a:srgbClr val="C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A06414"/>
                </a:solidFill>
                <a:latin typeface="微软雅黑"/>
              </a:defRPr>
            </a:pPr>
            <a:r>
              <a:t>知识点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503C1E"/>
                </a:solidFill>
                <a:latin typeface="微软雅黑"/>
              </a:defRPr>
            </a:pPr>
            <a:r>
              <a:t>{{ 环节3知识点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4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731520"/>
            <a:ext cx="457200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FFFFFF"/>
                </a:solidFill>
                <a:latin typeface="微软雅黑"/>
              </a:defRPr>
            </a:pPr>
            <a:r>
              <a:t>📚 案例与资源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698480" cy="41148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91440" cy="4114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1800" b="0" i="0">
                <a:solidFill>
                  <a:srgbClr val="323C50"/>
                </a:solidFill>
                <a:latin typeface="微软雅黑"/>
              </a:defRPr>
            </a:pPr>
            <a:r>
              <a:t>{{ 教学案例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4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731520"/>
            <a:ext cx="457200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FFFFFF"/>
                </a:solidFill>
                <a:latin typeface="微软雅黑"/>
              </a:defRPr>
            </a:pPr>
            <a:r>
              <a:t>✏️ 课堂练习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698480" cy="41148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91440" cy="4114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1800" b="0" i="0">
                <a:solidFill>
                  <a:srgbClr val="323C50"/>
                </a:solidFill>
                <a:latin typeface="微软雅黑"/>
              </a:defRPr>
            </a:pPr>
            <a:r>
              <a:t>{{ 课堂练习 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32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457200"/>
            <a:ext cx="2286000" cy="2286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 i="0">
                <a:solidFill>
                  <a:srgbClr val="FFFFFF"/>
                </a:solidFill>
                <a:latin typeface="微软雅黑"/>
              </a:defRPr>
            </a:pPr>
            <a:r>
              <a:t>📝 总结与作业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27432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2011680"/>
          </a:xfrm>
          <a:prstGeom prst="roundRect">
            <a:avLst/>
          </a:prstGeom>
          <a:solidFill>
            <a:srgbClr val="1E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 i="0">
                <a:solidFill>
                  <a:srgbClr val="2E7D32"/>
                </a:solidFill>
                <a:latin typeface="微软雅黑"/>
              </a:defRPr>
            </a:pPr>
            <a:r>
              <a:t>📋 教学总结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C8DCF0"/>
                </a:solidFill>
                <a:latin typeface="微软雅黑"/>
              </a:defRPr>
            </a:pPr>
            <a:r>
              <a:t>{{ 教学总结 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1E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 i="0">
                <a:solidFill>
                  <a:srgbClr val="2E7D32"/>
                </a:solidFill>
                <a:latin typeface="微软雅黑"/>
              </a:defRPr>
            </a:pPr>
            <a:r>
              <a:t>📝 课后任务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C8DCF0"/>
                </a:solidFill>
                <a:latin typeface="微软雅黑"/>
              </a:defRPr>
            </a:pPr>
            <a:r>
              <a:t>{{ 课后任务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